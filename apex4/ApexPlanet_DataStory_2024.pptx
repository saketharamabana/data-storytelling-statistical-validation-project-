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rts/chart1.xml" ContentType="application/vnd.openxmlformats-officedocument.drawingml.chart+xml"/>
  <Override PartName="/ppt/notesSlides/notesSlide4.xml" ContentType="application/vnd.openxmlformats-officedocument.presentationml.notesSlide+xml"/>
  <Override PartName="/ppt/charts/chart2.xml" ContentType="application/vnd.openxmlformats-officedocument.drawingml.chart+xml"/>
  <Override PartName="/ppt/notesSlides/notesSlide5.xml" ContentType="application/vnd.openxmlformats-officedocument.presentationml.notesSlide+xml"/>
  <Override PartName="/ppt/charts/chart3.xml" ContentType="application/vnd.openxmlformats-officedocument.drawingml.chart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95" d="100"/>
          <a:sy n="95" d="100"/>
        </p:scale>
        <p:origin x="44" y="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($)</c:v>
                </c:pt>
              </c:strCache>
            </c:strRef>
          </c:tx>
          <c:spPr>
            <a:ln w="38100" cap="flat">
              <a:solidFill>
                <a:srgbClr val="1E2761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1E2761"/>
              </a:solidFill>
              <a:ln w="9525" cap="flat">
                <a:solidFill>
                  <a:srgbClr val="1E2761"/>
                </a:solidFill>
                <a:prstDash val="solid"/>
                <a:round/>
              </a:ln>
              <a:effectLst/>
            </c:spPr>
          </c:marker>
          <c:cat>
            <c:strRef>
              <c:f>Sheet1!$A$2:$A$9</c:f>
              <c:strCache>
                <c:ptCount val="8"/>
                <c:pt idx="0">
                  <c:v>Q1 2023</c:v>
                </c:pt>
                <c:pt idx="1">
                  <c:v>Q2 2023</c:v>
                </c:pt>
                <c:pt idx="2">
                  <c:v>Q3 2023</c:v>
                </c:pt>
                <c:pt idx="3">
                  <c:v>Q4 2023</c:v>
                </c:pt>
                <c:pt idx="4">
                  <c:v>Q1 2024</c:v>
                </c:pt>
                <c:pt idx="5">
                  <c:v>Q2 2024</c:v>
                </c:pt>
                <c:pt idx="6">
                  <c:v>Q3 2024</c:v>
                </c:pt>
                <c:pt idx="7">
                  <c:v>Q4 2024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142500</c:v>
                </c:pt>
                <c:pt idx="1">
                  <c:v>158300</c:v>
                </c:pt>
                <c:pt idx="2">
                  <c:v>179200</c:v>
                </c:pt>
                <c:pt idx="3">
                  <c:v>224600</c:v>
                </c:pt>
                <c:pt idx="4">
                  <c:v>167800</c:v>
                </c:pt>
                <c:pt idx="5">
                  <c:v>195400</c:v>
                </c:pt>
                <c:pt idx="6">
                  <c:v>221300</c:v>
                </c:pt>
                <c:pt idx="7">
                  <c:v>276500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2BC3-474F-B487-84F94BFD145A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Orders</c:v>
                </c:pt>
              </c:strCache>
            </c:strRef>
          </c:tx>
          <c:spPr>
            <a:ln w="38100" cap="flat">
              <a:solidFill>
                <a:srgbClr val="F5A623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F5A623"/>
              </a:solidFill>
              <a:ln w="9525" cap="flat">
                <a:solidFill>
                  <a:srgbClr val="F5A623"/>
                </a:solidFill>
                <a:prstDash val="solid"/>
                <a:round/>
              </a:ln>
              <a:effectLst/>
            </c:spPr>
          </c:marker>
          <c:cat>
            <c:strRef>
              <c:f>Sheet1!$A$2:$A$9</c:f>
              <c:strCache>
                <c:ptCount val="8"/>
                <c:pt idx="0">
                  <c:v>Q1 2023</c:v>
                </c:pt>
                <c:pt idx="1">
                  <c:v>Q2 2023</c:v>
                </c:pt>
                <c:pt idx="2">
                  <c:v>Q3 2023</c:v>
                </c:pt>
                <c:pt idx="3">
                  <c:v>Q4 2023</c:v>
                </c:pt>
                <c:pt idx="4">
                  <c:v>Q1 2024</c:v>
                </c:pt>
                <c:pt idx="5">
                  <c:v>Q2 2024</c:v>
                </c:pt>
                <c:pt idx="6">
                  <c:v>Q3 2024</c:v>
                </c:pt>
                <c:pt idx="7">
                  <c:v>Q4 2024</c:v>
                </c:pt>
              </c:strCache>
            </c:strRef>
          </c:cat>
          <c:val>
            <c:numRef>
              <c:f>Sheet1!$C$2:$C$9</c:f>
              <c:numCache>
                <c:formatCode>General</c:formatCode>
                <c:ptCount val="8"/>
                <c:pt idx="0">
                  <c:v>120500</c:v>
                </c:pt>
                <c:pt idx="1">
                  <c:v>134200</c:v>
                </c:pt>
                <c:pt idx="2">
                  <c:v>151800</c:v>
                </c:pt>
                <c:pt idx="3">
                  <c:v>190300</c:v>
                </c:pt>
                <c:pt idx="4">
                  <c:v>142100</c:v>
                </c:pt>
                <c:pt idx="5">
                  <c:v>165600</c:v>
                </c:pt>
                <c:pt idx="6">
                  <c:v>187800</c:v>
                </c:pt>
                <c:pt idx="7">
                  <c:v>234500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1-2BC3-474F-B487-84F94BFD145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/>
          </a:pPr>
          <a:endParaRPr lang="en-US"/>
        </a:p>
      </c:txPr>
    </c:legend>
    <c:plotVisOnly val="1"/>
    <c:dispBlanksAs val="span"/>
    <c:showDLblsOverMax val="1"/>
  </c:chart>
  <c:spPr>
    <a:solidFill>
      <a:srgbClr val="F8FAFC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Revenue by Segment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E276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CE7F-420B-BF1B-A2DDDEA43044}"/>
              </c:ext>
            </c:extLst>
          </c:dPt>
          <c:dPt>
            <c:idx val="1"/>
            <c:bubble3D val="0"/>
            <c:spPr>
              <a:solidFill>
                <a:srgbClr val="0D948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CE7F-420B-BF1B-A2DDDEA43044}"/>
              </c:ext>
            </c:extLst>
          </c:dPt>
          <c:dPt>
            <c:idx val="2"/>
            <c:bubble3D val="0"/>
            <c:spPr>
              <a:solidFill>
                <a:srgbClr val="F5A623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CE7F-420B-BF1B-A2DDDEA43044}"/>
              </c:ext>
            </c:extLst>
          </c:dPt>
          <c:dPt>
            <c:idx val="3"/>
            <c:bubble3D val="0"/>
            <c:spPr>
              <a:solidFill>
                <a:srgbClr val="DC262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CE7F-420B-BF1B-A2DDDEA43044}"/>
              </c:ext>
            </c:extLst>
          </c:dPt>
          <c:dPt>
            <c:idx val="4"/>
            <c:bubble3D val="0"/>
            <c:spPr>
              <a:solidFill>
                <a:srgbClr val="6366F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CE7F-420B-BF1B-A2DDDEA43044}"/>
              </c:ext>
            </c:extLst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CE7F-420B-BF1B-A2DDDEA43044}"/>
                </c:ext>
              </c:extLst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CE7F-420B-BF1B-A2DDDEA43044}"/>
                </c:ext>
              </c:extLst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CE7F-420B-BF1B-A2DDDEA43044}"/>
                </c:ext>
              </c:extLst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CE7F-420B-BF1B-A2DDDEA43044}"/>
                </c:ext>
              </c:extLst>
            </c:dLbl>
            <c:dLbl>
              <c:idx val="4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CE7F-420B-BF1B-A2DDDEA43044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Sheet1!$A$2:$A$6</c:f>
              <c:strCache>
                <c:ptCount val="5"/>
                <c:pt idx="0">
                  <c:v>Champions</c:v>
                </c:pt>
                <c:pt idx="1">
                  <c:v>Loyal Customers</c:v>
                </c:pt>
                <c:pt idx="2">
                  <c:v>At Risk</c:v>
                </c:pt>
                <c:pt idx="3">
                  <c:v>Lost Customers</c:v>
                </c:pt>
                <c:pt idx="4">
                  <c:v>New Customers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312400</c:v>
                </c:pt>
                <c:pt idx="1">
                  <c:v>487200</c:v>
                </c:pt>
                <c:pt idx="2">
                  <c:v>89300</c:v>
                </c:pt>
                <c:pt idx="3">
                  <c:v>0</c:v>
                </c:pt>
                <c:pt idx="4">
                  <c:v>124600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CE7F-420B-BF1B-A2DDDEA4304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/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spPr>
            <a:solidFill>
              <a:srgbClr val="1E2761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71A8-4C2A-B3D5-B179A8BE0FB8}"/>
              </c:ext>
            </c:extLst>
          </c:dPt>
          <c:dPt>
            <c:idx val="1"/>
            <c:invertIfNegative val="0"/>
            <c:bubble3D val="0"/>
            <c:spPr>
              <a:solidFill>
                <a:srgbClr val="0D948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71A8-4C2A-B3D5-B179A8BE0FB8}"/>
              </c:ext>
            </c:extLst>
          </c:dPt>
          <c:dPt>
            <c:idx val="2"/>
            <c:invertIfNegative val="0"/>
            <c:bubble3D val="0"/>
            <c:spPr>
              <a:solidFill>
                <a:srgbClr val="F59E0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71A8-4C2A-B3D5-B179A8BE0FB8}"/>
              </c:ext>
            </c:extLst>
          </c:dPt>
          <c:dPt>
            <c:idx val="3"/>
            <c:invertIfNegative val="0"/>
            <c:bubble3D val="0"/>
            <c:spPr>
              <a:solidFill>
                <a:srgbClr val="6366F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71A8-4C2A-B3D5-B179A8BE0FB8}"/>
              </c:ext>
            </c:extLst>
          </c:dPt>
          <c:dPt>
            <c:idx val="4"/>
            <c:invertIfNegative val="0"/>
            <c:bubble3D val="0"/>
            <c:spPr>
              <a:solidFill>
                <a:srgbClr val="F5A623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71A8-4C2A-B3D5-B179A8BE0FB8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Electronics</c:v>
                </c:pt>
                <c:pt idx="1">
                  <c:v>Apparel</c:v>
                </c:pt>
                <c:pt idx="2">
                  <c:v>Home &amp; Garden</c:v>
                </c:pt>
                <c:pt idx="3">
                  <c:v>Sports</c:v>
                </c:pt>
                <c:pt idx="4">
                  <c:v>Beauty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485200</c:v>
                </c:pt>
                <c:pt idx="1">
                  <c:v>312400</c:v>
                </c:pt>
                <c:pt idx="2">
                  <c:v>198700</c:v>
                </c:pt>
                <c:pt idx="3">
                  <c:v>245800</c:v>
                </c:pt>
                <c:pt idx="4">
                  <c:v>123400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71A8-4C2A-B3D5-B179A8BE0FB8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591027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Welcome. This deck synthesizes all analytical findings from Parts 1–3 into an executive-ready business narrative with statistical validation.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Three-chapter narrative: growth story, customer intelligence, and evidence-based decisions. Each chapter builds the case for the call to action.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Revenue grew from $703K in FY2023 to $861K in FY2024. Q4 drives seasonal peak every year — note the consistent pattern. AOV improvement signals better product mix and upsell success.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Top 2 segments (Champions + Loyal) drive 93% of revenue from 46% of customers. 523 At-Risk customers once spent at $170 AOV — win-back campaign could recover $280K+.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Electronics leads revenue but has the thinnest margin (22%). Beauty is the strategic gem at 55% margin despite ranking last in revenue — it should receive more marketing investment.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Chi-squared test on proportions. P=0.055 is just above significance threshold. Practical lift of +15% is economically meaningful — with ~1,200 more visitors per group, we'd likely reach p&lt;0.05.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T-test on 90-day daily revenue samples confirms that observed growth is statistically real. p&lt;0.0001 leaves no doubt. CI tells us we're gaining at least $662 per day, up to $1,295.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Four recommendations prioritized by impact/effort ratio. #1 and #3 are quick wins. #2 and #4 are strategic investments for sustained growth.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with confidence. Numbers don't lie — 22% growth, statistically validated, with clear paths to 30%+ next year. Thank the audience and open for questions.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-1097280"/>
            <a:ext cx="5029200" cy="5029200"/>
          </a:xfrm>
          <a:prstGeom prst="ellipse">
            <a:avLst/>
          </a:prstGeom>
          <a:solidFill>
            <a:srgbClr val="14265A"/>
          </a:solidFill>
          <a:ln w="12700">
            <a:solidFill>
              <a:srgbClr val="14265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583680" y="-457200"/>
            <a:ext cx="3657600" cy="3657600"/>
          </a:xfrm>
          <a:prstGeom prst="ellipse">
            <a:avLst/>
          </a:prstGeom>
          <a:solidFill>
            <a:srgbClr val="223A7A"/>
          </a:solidFill>
          <a:ln w="12700">
            <a:solidFill>
              <a:srgbClr val="223A7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640080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400" dirty="0">
                <a:solidFill>
                  <a:srgbClr val="F5A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ApexPlanet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1143000"/>
            <a:ext cx="77724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Analytics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548640" y="242316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C8D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2024 Business Intelligence Report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548640" y="3017520"/>
            <a:ext cx="1097280" cy="4572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324612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AAA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Sales Performance  •  Customer Segmentation  •  Statistical Validation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48640" y="438912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680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Prepared for Executive Leadership  |  June 2024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1F5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Executive Summary</a:t>
            </a:r>
            <a:endParaRPr lang="en-US" sz="28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68361" y="274320"/>
            <a:ext cx="384048" cy="38404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60120" y="804672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Story in Three Chapters</a:t>
            </a:r>
            <a:endParaRPr lang="en-US" sz="1300" dirty="0"/>
          </a:p>
        </p:txBody>
      </p:sp>
      <p:sp>
        <p:nvSpPr>
          <p:cNvPr id="5" name="Shape 2"/>
          <p:cNvSpPr/>
          <p:nvPr/>
        </p:nvSpPr>
        <p:spPr>
          <a:xfrm>
            <a:off x="457200" y="1234440"/>
            <a:ext cx="2606040" cy="32918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5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457200" y="1234440"/>
            <a:ext cx="2606040" cy="5029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94360" y="1261872"/>
            <a:ext cx="6400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5A6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1234440" y="1298448"/>
            <a:ext cx="1691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Revenue Growth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594360" y="1874520"/>
            <a:ext cx="233172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ApexPlanet achieved 22.2% YoY revenue growth in FY2024, reaching $861K — driven by a strong Q4 seasonal surge and improved average order value.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3291840" y="1234440"/>
            <a:ext cx="2606040" cy="32918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291840" y="1234440"/>
            <a:ext cx="2606040" cy="502920"/>
          </a:xfrm>
          <a:prstGeom prst="rect">
            <a:avLst/>
          </a:prstGeom>
          <a:solidFill>
            <a:srgbClr val="0A3060"/>
          </a:solidFill>
          <a:ln w="12700">
            <a:solidFill>
              <a:srgbClr val="0A306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3429000" y="1261872"/>
            <a:ext cx="6400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5A6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200" dirty="0"/>
          </a:p>
        </p:txBody>
      </p:sp>
      <p:sp>
        <p:nvSpPr>
          <p:cNvPr id="13" name="Text 10"/>
          <p:cNvSpPr/>
          <p:nvPr/>
        </p:nvSpPr>
        <p:spPr>
          <a:xfrm>
            <a:off x="4069080" y="1298448"/>
            <a:ext cx="1691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 Intelligence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3429000" y="1874520"/>
            <a:ext cx="233172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RFM segmentation reveals Loyal Customers ($487K) and Champions ($312K) generate 93% of revenue, while 523 At-Risk customers represent a $280K+ recovery opportunity.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6126480" y="1234440"/>
            <a:ext cx="2606040" cy="32918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6126480" y="1234440"/>
            <a:ext cx="2606040" cy="502920"/>
          </a:xfrm>
          <a:prstGeom prst="rect">
            <a:avLst/>
          </a:prstGeom>
          <a:solidFill>
            <a:srgbClr val="14265A"/>
          </a:solidFill>
          <a:ln w="12700">
            <a:solidFill>
              <a:srgbClr val="14265A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263640" y="1261872"/>
            <a:ext cx="6400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5A6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200" dirty="0"/>
          </a:p>
        </p:txBody>
      </p:sp>
      <p:sp>
        <p:nvSpPr>
          <p:cNvPr id="18" name="Text 15"/>
          <p:cNvSpPr/>
          <p:nvPr/>
        </p:nvSpPr>
        <p:spPr>
          <a:xfrm>
            <a:off x="6903720" y="1298448"/>
            <a:ext cx="1691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Statistical Validation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6263640" y="1874520"/>
            <a:ext cx="233172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A/B testing of the new website layout shows a +15% relative lift in conversion rate, trending toward significance (p=0.055). Extended testing recommended.</a:t>
            </a:r>
            <a:endParaRPr lang="en-US" sz="1150" dirty="0"/>
          </a:p>
        </p:txBody>
      </p:sp>
      <p:sp>
        <p:nvSpPr>
          <p:cNvPr id="20" name="Shape 17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274320" y="4709160"/>
            <a:ext cx="8595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5A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CALL TO ACTION: Retain at-risk customers | Extend A/B test | Scale high-margin Beauty category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Chapter 1: Revenue Performance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8D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FY2023–FY2024 Quarterly Revenue Trend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11480" y="1005840"/>
            <a:ext cx="1920240" cy="1005840"/>
          </a:xfrm>
          <a:prstGeom prst="rect">
            <a:avLst/>
          </a:prstGeom>
          <a:solidFill>
            <a:srgbClr val="F0FFF8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02920" y="1024128"/>
            <a:ext cx="17373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$861K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57200" y="146304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FY2024 Revenue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57200" y="1664208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+22.2% YoY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2514600" y="1005840"/>
            <a:ext cx="1920240" cy="1005840"/>
          </a:xfrm>
          <a:prstGeom prst="rect">
            <a:avLst/>
          </a:prstGeom>
          <a:solidFill>
            <a:srgbClr val="F0FFF8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606040" y="1024128"/>
            <a:ext cx="17373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$277K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560320" y="146304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Q4 2024 Peak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2560320" y="1664208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 quarter ever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617720" y="1005840"/>
            <a:ext cx="1920240" cy="1005840"/>
          </a:xfrm>
          <a:prstGeom prst="rect">
            <a:avLst/>
          </a:prstGeom>
          <a:solidFill>
            <a:srgbClr val="F0FFF8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709160" y="1024128"/>
            <a:ext cx="17373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$118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4663440" y="146304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Order Value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663440" y="1664208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+8.3% vs FY2023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6720840" y="1005840"/>
            <a:ext cx="1920240" cy="1005840"/>
          </a:xfrm>
          <a:prstGeom prst="rect">
            <a:avLst/>
          </a:prstGeom>
          <a:solidFill>
            <a:srgbClr val="F0FFF8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812280" y="1024128"/>
            <a:ext cx="17373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7,300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6766560" y="146304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Orders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6766560" y="1664208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+18.1% YoY</a:t>
            </a:r>
            <a:endParaRPr lang="en-US" sz="950" dirty="0"/>
          </a:p>
        </p:txBody>
      </p:sp>
      <p:graphicFrame>
        <p:nvGraphicFramePr>
          <p:cNvPr id="21" name="Chart 0"/>
          <p:cNvGraphicFramePr/>
          <p:nvPr/>
        </p:nvGraphicFramePr>
        <p:xfrm>
          <a:off x="411480" y="2103120"/>
          <a:ext cx="832104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A3060"/>
          </a:solidFill>
          <a:ln w="12700">
            <a:solidFill>
              <a:srgbClr val="0A306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Chapter 2: Customer Segmentation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8D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RFM-Based Segment Analysis — Revenue &amp; Customer Distribution</a:t>
            </a:r>
            <a:endParaRPr lang="en-US" sz="13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365760" y="1005840"/>
          <a:ext cx="3840480" cy="3474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Shape 3"/>
          <p:cNvSpPr/>
          <p:nvPr/>
        </p:nvSpPr>
        <p:spPr>
          <a:xfrm>
            <a:off x="4389120" y="1024128"/>
            <a:ext cx="448056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5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4389120" y="1024128"/>
            <a:ext cx="256032" cy="71323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709160" y="1078992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Champions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4709160" y="1344168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412 customers  (17.4%)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6949440" y="1097280"/>
            <a:ext cx="1783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$312,400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6949440" y="1408176"/>
            <a:ext cx="1783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AOV $758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4389120" y="1828800"/>
            <a:ext cx="448056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389120" y="1828800"/>
            <a:ext cx="256032" cy="7132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709160" y="1883664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Loyal Customers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4709160" y="2148840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687 customers  (29.0%)</a:t>
            </a:r>
            <a:endParaRPr lang="en-US" sz="950" dirty="0"/>
          </a:p>
        </p:txBody>
      </p:sp>
      <p:sp>
        <p:nvSpPr>
          <p:cNvPr id="16" name="Text 13"/>
          <p:cNvSpPr/>
          <p:nvPr/>
        </p:nvSpPr>
        <p:spPr>
          <a:xfrm>
            <a:off x="6949440" y="1901952"/>
            <a:ext cx="1783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$487,200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6949440" y="2212848"/>
            <a:ext cx="1783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AOV $709</a:t>
            </a:r>
            <a:endParaRPr lang="en-US" sz="950" dirty="0"/>
          </a:p>
        </p:txBody>
      </p:sp>
      <p:sp>
        <p:nvSpPr>
          <p:cNvPr id="18" name="Shape 15"/>
          <p:cNvSpPr/>
          <p:nvPr/>
        </p:nvSpPr>
        <p:spPr>
          <a:xfrm>
            <a:off x="4389120" y="2633472"/>
            <a:ext cx="448056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4389120" y="2633472"/>
            <a:ext cx="256032" cy="71323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4709160" y="2688336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 Risk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4709160" y="2953512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523 customers  (22.1%)</a:t>
            </a:r>
            <a:endParaRPr lang="en-US" sz="950" dirty="0"/>
          </a:p>
        </p:txBody>
      </p:sp>
      <p:sp>
        <p:nvSpPr>
          <p:cNvPr id="22" name="Text 19"/>
          <p:cNvSpPr/>
          <p:nvPr/>
        </p:nvSpPr>
        <p:spPr>
          <a:xfrm>
            <a:off x="6949440" y="2706624"/>
            <a:ext cx="1783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$89,300</a:t>
            </a:r>
            <a:endParaRPr lang="en-US" sz="1500" dirty="0"/>
          </a:p>
        </p:txBody>
      </p:sp>
      <p:sp>
        <p:nvSpPr>
          <p:cNvPr id="23" name="Text 20"/>
          <p:cNvSpPr/>
          <p:nvPr/>
        </p:nvSpPr>
        <p:spPr>
          <a:xfrm>
            <a:off x="6949440" y="3017520"/>
            <a:ext cx="1783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AOV $170</a:t>
            </a:r>
            <a:endParaRPr lang="en-US" sz="950" dirty="0"/>
          </a:p>
        </p:txBody>
      </p:sp>
      <p:sp>
        <p:nvSpPr>
          <p:cNvPr id="24" name="Shape 21"/>
          <p:cNvSpPr/>
          <p:nvPr/>
        </p:nvSpPr>
        <p:spPr>
          <a:xfrm>
            <a:off x="4389120" y="4242816"/>
            <a:ext cx="448056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5" name="Shape 22"/>
          <p:cNvSpPr/>
          <p:nvPr/>
        </p:nvSpPr>
        <p:spPr>
          <a:xfrm>
            <a:off x="4389120" y="4242816"/>
            <a:ext cx="256032" cy="713232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4709160" y="429768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Customers</a:t>
            </a:r>
            <a:endParaRPr lang="en-US" sz="1200" dirty="0"/>
          </a:p>
        </p:txBody>
      </p:sp>
      <p:sp>
        <p:nvSpPr>
          <p:cNvPr id="27" name="Text 24"/>
          <p:cNvSpPr/>
          <p:nvPr/>
        </p:nvSpPr>
        <p:spPr>
          <a:xfrm>
            <a:off x="4709160" y="4562856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445 customers  (18.8%)</a:t>
            </a:r>
            <a:endParaRPr lang="en-US" sz="950" dirty="0"/>
          </a:p>
        </p:txBody>
      </p:sp>
      <p:sp>
        <p:nvSpPr>
          <p:cNvPr id="28" name="Text 25"/>
          <p:cNvSpPr/>
          <p:nvPr/>
        </p:nvSpPr>
        <p:spPr>
          <a:xfrm>
            <a:off x="6949440" y="4315968"/>
            <a:ext cx="1783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$124,600</a:t>
            </a:r>
            <a:endParaRPr lang="en-US" sz="1500" dirty="0"/>
          </a:p>
        </p:txBody>
      </p:sp>
      <p:sp>
        <p:nvSpPr>
          <p:cNvPr id="29" name="Text 26"/>
          <p:cNvSpPr/>
          <p:nvPr/>
        </p:nvSpPr>
        <p:spPr>
          <a:xfrm>
            <a:off x="6949440" y="4626864"/>
            <a:ext cx="1783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AOV $280</a:t>
            </a:r>
            <a:endParaRPr lang="en-US" sz="950" dirty="0"/>
          </a:p>
        </p:txBody>
      </p:sp>
      <p:sp>
        <p:nvSpPr>
          <p:cNvPr id="30" name="Shape 27"/>
          <p:cNvSpPr/>
          <p:nvPr/>
        </p:nvSpPr>
        <p:spPr>
          <a:xfrm>
            <a:off x="4389120" y="4224528"/>
            <a:ext cx="4480560" cy="713232"/>
          </a:xfrm>
          <a:prstGeom prst="rect">
            <a:avLst/>
          </a:prstGeom>
          <a:solidFill>
            <a:srgbClr val="FFF8EC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5000"/>
              </a:srgbClr>
            </a:outerShdw>
          </a:effectLst>
        </p:spPr>
      </p:sp>
      <p:sp>
        <p:nvSpPr>
          <p:cNvPr id="31" name="Shape 28"/>
          <p:cNvSpPr/>
          <p:nvPr/>
        </p:nvSpPr>
        <p:spPr>
          <a:xfrm>
            <a:off x="4389120" y="4224528"/>
            <a:ext cx="256032" cy="71323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4709160" y="4279392"/>
            <a:ext cx="4023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7A4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 At-Risk Customers: $280K+ Re-engagement Opportunity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1F5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Product Portfolio Analysis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8F0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Revenue vs. Gross Margin by Category — Strategic Prioritization</a:t>
            </a:r>
            <a:endParaRPr lang="en-US" sz="13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365760" y="1005840"/>
          <a:ext cx="5303520" cy="3474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Shape 3"/>
          <p:cNvSpPr/>
          <p:nvPr/>
        </p:nvSpPr>
        <p:spPr>
          <a:xfrm>
            <a:off x="5806440" y="1051560"/>
            <a:ext cx="2971800" cy="10515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5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5943600" y="1124712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Beauty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5943600" y="1435608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Gross Margin: 55%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5943600" y="169164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Highest margin — scale now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5806440" y="2240280"/>
            <a:ext cx="2971800" cy="10515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5943600" y="2313432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Electronics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5943600" y="2624328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07B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Gross Margin: 22%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5943600" y="288036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 revenue, low margin — optimize mix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5806440" y="3429000"/>
            <a:ext cx="2971800" cy="10515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5943600" y="3502152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Apparel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5943600" y="3813048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Gross Margin: 41%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5943600" y="406908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Balanced — solid growth lever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Chapter 3: Statistical Validation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8D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Hypothesis Testing — Website Conversion Rate A/B Test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005840"/>
            <a:ext cx="8412480" cy="822960"/>
          </a:xfrm>
          <a:prstGeom prst="rect">
            <a:avLst/>
          </a:prstGeom>
          <a:solidFill>
            <a:srgbClr val="EEF2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1078992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H₀: </a:t>
            </a: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website layout does NOT significantly change conversion rate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48640" y="141732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H₁: </a:t>
            </a: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website layout produces a statistically significant INCREASE in conversion rate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65760" y="1965960"/>
            <a:ext cx="4114800" cy="13716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02920" y="2029968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 (Old Layout)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02920" y="2331720"/>
            <a:ext cx="3749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6474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10.96%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457200" y="2944368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Conversion Rate  |  2,847 visitors, 312 conversions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754880" y="1965960"/>
            <a:ext cx="4114800" cy="1371600"/>
          </a:xfrm>
          <a:prstGeom prst="rect">
            <a:avLst/>
          </a:prstGeom>
          <a:solidFill>
            <a:srgbClr val="F0FFF8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92040" y="2029968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Treatment (New Layout)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892040" y="2331720"/>
            <a:ext cx="3749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12.60%</a:t>
            </a:r>
            <a:endParaRPr lang="en-US" sz="3600" dirty="0"/>
          </a:p>
        </p:txBody>
      </p:sp>
      <p:sp>
        <p:nvSpPr>
          <p:cNvPr id="15" name="Text 13"/>
          <p:cNvSpPr/>
          <p:nvPr/>
        </p:nvSpPr>
        <p:spPr>
          <a:xfrm>
            <a:off x="4846320" y="2944368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Conversion Rate  |  3,103 visitors, 391 conversions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65760" y="3383280"/>
            <a:ext cx="2606040" cy="566928"/>
          </a:xfrm>
          <a:prstGeom prst="rect">
            <a:avLst/>
          </a:prstGeom>
          <a:solidFill>
            <a:srgbClr val="F1F5FB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57200" y="3429000"/>
            <a:ext cx="2331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Lift (Absolute)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457200" y="3657600"/>
            <a:ext cx="23317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+1.64 pp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3200400" y="3383280"/>
            <a:ext cx="2606040" cy="566928"/>
          </a:xfrm>
          <a:prstGeom prst="rect">
            <a:avLst/>
          </a:prstGeom>
          <a:solidFill>
            <a:srgbClr val="F1F5FB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291840" y="3429000"/>
            <a:ext cx="2331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Relative Lift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3291840" y="3657600"/>
            <a:ext cx="23317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+15.0%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6035040" y="3383280"/>
            <a:ext cx="2606040" cy="566928"/>
          </a:xfrm>
          <a:prstGeom prst="rect">
            <a:avLst/>
          </a:prstGeom>
          <a:solidFill>
            <a:srgbClr val="F1F5FB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126480" y="3429000"/>
            <a:ext cx="2331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χ² Statistic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6126480" y="3657600"/>
            <a:ext cx="23317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3.685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365760" y="4041648"/>
            <a:ext cx="2606040" cy="566928"/>
          </a:xfrm>
          <a:prstGeom prst="rect">
            <a:avLst/>
          </a:prstGeom>
          <a:solidFill>
            <a:srgbClr val="FFF8EC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457200" y="4087368"/>
            <a:ext cx="2331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P-value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457200" y="4315968"/>
            <a:ext cx="23317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B4530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0.055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3200400" y="4041648"/>
            <a:ext cx="2606040" cy="566928"/>
          </a:xfrm>
          <a:prstGeom prst="rect">
            <a:avLst/>
          </a:prstGeom>
          <a:solidFill>
            <a:srgbClr val="F1F5FB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3291840" y="4087368"/>
            <a:ext cx="2331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95% CI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3291840" y="4315968"/>
            <a:ext cx="23317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[0.00%, 3.28%]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6035040" y="4041648"/>
            <a:ext cx="2606040" cy="566928"/>
          </a:xfrm>
          <a:prstGeom prst="rect">
            <a:avLst/>
          </a:prstGeom>
          <a:solidFill>
            <a:srgbClr val="F1F5FB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5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6126480" y="4087368"/>
            <a:ext cx="2331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α Threshold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6126480" y="4315968"/>
            <a:ext cx="23317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0.05</a:t>
            </a:r>
            <a:endParaRPr lang="en-US" sz="1400" dirty="0"/>
          </a:p>
        </p:txBody>
      </p:sp>
      <p:sp>
        <p:nvSpPr>
          <p:cNvPr id="34" name="Shape 32"/>
          <p:cNvSpPr/>
          <p:nvPr/>
        </p:nvSpPr>
        <p:spPr>
          <a:xfrm>
            <a:off x="0" y="4645152"/>
            <a:ext cx="9144000" cy="498348"/>
          </a:xfrm>
          <a:prstGeom prst="rect">
            <a:avLst/>
          </a:prstGeom>
          <a:solidFill>
            <a:srgbClr val="FFF8EC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74320" y="4681728"/>
            <a:ext cx="8595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7A4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VERDICT: p = 0.055 (marginally above α=0.05). Trend is promising — extend test to 6,000+ visitors per group to achieve ≥80% power. Business case is positive.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Statistical Validation: Revenue Growth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8D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Two-Sample T-Test — Daily Revenue: Q3 2023 vs Q3 2024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4114800" cy="1005840"/>
          </a:xfrm>
          <a:prstGeom prst="rect">
            <a:avLst/>
          </a:prstGeom>
          <a:solidFill>
            <a:srgbClr val="F1F5FB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02920" y="11887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Mean Daily Revenue (2023)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02920" y="1536192"/>
            <a:ext cx="3657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6474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$4,662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4754880" y="1097280"/>
            <a:ext cx="4114800" cy="1005840"/>
          </a:xfrm>
          <a:prstGeom prst="rect">
            <a:avLst/>
          </a:prstGeom>
          <a:solidFill>
            <a:srgbClr val="F1F5FB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892040" y="11887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Mean Daily Revenue (2024)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892040" y="1536192"/>
            <a:ext cx="3657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$5,640</a:t>
            </a:r>
            <a:endParaRPr lang="en-US" sz="2600" dirty="0"/>
          </a:p>
        </p:txBody>
      </p:sp>
      <p:sp>
        <p:nvSpPr>
          <p:cNvPr id="11" name="Shape 9"/>
          <p:cNvSpPr/>
          <p:nvPr/>
        </p:nvSpPr>
        <p:spPr>
          <a:xfrm>
            <a:off x="365760" y="2286000"/>
            <a:ext cx="4114800" cy="1005840"/>
          </a:xfrm>
          <a:prstGeom prst="rect">
            <a:avLst/>
          </a:prstGeom>
          <a:solidFill>
            <a:srgbClr val="F0FFF8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02920" y="23774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T-Statistic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02920" y="2724912"/>
            <a:ext cx="3657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D94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-7.63</a:t>
            </a:r>
            <a:endParaRPr lang="en-US" sz="2600" dirty="0"/>
          </a:p>
        </p:txBody>
      </p:sp>
      <p:sp>
        <p:nvSpPr>
          <p:cNvPr id="14" name="Shape 12"/>
          <p:cNvSpPr/>
          <p:nvPr/>
        </p:nvSpPr>
        <p:spPr>
          <a:xfrm>
            <a:off x="4754880" y="2286000"/>
            <a:ext cx="4114800" cy="1005840"/>
          </a:xfrm>
          <a:prstGeom prst="rect">
            <a:avLst/>
          </a:prstGeom>
          <a:solidFill>
            <a:srgbClr val="F0FFF8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892040" y="23774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P-value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892040" y="2724912"/>
            <a:ext cx="3657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5966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&lt; 0.0001</a:t>
            </a:r>
            <a:endParaRPr lang="en-US" sz="2600" dirty="0"/>
          </a:p>
        </p:txBody>
      </p:sp>
      <p:sp>
        <p:nvSpPr>
          <p:cNvPr id="17" name="Shape 15"/>
          <p:cNvSpPr/>
          <p:nvPr/>
        </p:nvSpPr>
        <p:spPr>
          <a:xfrm>
            <a:off x="365760" y="3520440"/>
            <a:ext cx="8412480" cy="1298448"/>
          </a:xfrm>
          <a:prstGeom prst="rect">
            <a:avLst/>
          </a:prstGeom>
          <a:solidFill>
            <a:srgbClr val="F0FFF8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48640" y="3593592"/>
            <a:ext cx="7863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Statistical Conclusion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48640" y="3913632"/>
            <a:ext cx="79552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</a:t>
            </a: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REJECT H₀. The 21% increase in mean daily revenue from $4,662 to $5,640 is statistically significant (t = -7.63, p &lt; 0.0001, 95% CI: [$662, $1,295/day]). </a:t>
            </a:r>
            <a:r>
              <a:rPr lang="en-US" sz="12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Revenue growth is not due to chance.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Strategic Recommendations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74980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8D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Prioritized Call to Action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365760" y="1234440"/>
            <a:ext cx="4069080" cy="1627632"/>
          </a:xfrm>
          <a:prstGeom prst="rect">
            <a:avLst/>
          </a:prstGeom>
          <a:solidFill>
            <a:srgbClr val="223A7A"/>
          </a:solidFill>
          <a:ln w="12700">
            <a:solidFill>
              <a:srgbClr val="2A4A9A"/>
            </a:solidFill>
            <a:prstDash val="solid"/>
          </a:ln>
          <a:effectLst>
            <a:outerShdw blurRad="101600" dist="38100" dir="2700000" algn="bl" rotWithShape="0">
              <a:srgbClr val="000000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75488" y="1344168"/>
            <a:ext cx="411480" cy="411480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75488" y="1344168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60120" y="1371600"/>
            <a:ext cx="3337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Re-engage At-Risk Customers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02920" y="1801368"/>
            <a:ext cx="37947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8C0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Launch personalized win-back campaigns targeting 523 at-risk customers. Even 30% recovery at $170 AOV = +$26,700 immediate revenue.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02920" y="2624328"/>
            <a:ext cx="3749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5A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Impact: HIGH  |  Effort: LOW  |  Q3 2024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754880" y="1234440"/>
            <a:ext cx="4069080" cy="1627632"/>
          </a:xfrm>
          <a:prstGeom prst="rect">
            <a:avLst/>
          </a:prstGeom>
          <a:solidFill>
            <a:srgbClr val="223A7A"/>
          </a:solidFill>
          <a:ln w="12700">
            <a:solidFill>
              <a:srgbClr val="2A4A9A"/>
            </a:solidFill>
            <a:prstDash val="solid"/>
          </a:ln>
          <a:effectLst>
            <a:outerShdw blurRad="101600" dist="38100" dir="27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864608" y="1344168"/>
            <a:ext cx="411480" cy="411480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64608" y="1344168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349240" y="1371600"/>
            <a:ext cx="3337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Scale Beauty Category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892040" y="1801368"/>
            <a:ext cx="37947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8C0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Reallocate 15% of Electronics marketing budget to Beauty (55% margin vs 22%). Target 20% YoY growth in Beauty to add ~$25K high-margin revenue.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4892040" y="2624328"/>
            <a:ext cx="3749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5A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Impact: HIGH  |  Effort: MED  |  Q4 2024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365760" y="3017520"/>
            <a:ext cx="4069080" cy="1627632"/>
          </a:xfrm>
          <a:prstGeom prst="rect">
            <a:avLst/>
          </a:prstGeom>
          <a:solidFill>
            <a:srgbClr val="223A7A"/>
          </a:solidFill>
          <a:ln w="12700">
            <a:solidFill>
              <a:srgbClr val="2A4A9A"/>
            </a:solidFill>
            <a:prstDash val="solid"/>
          </a:ln>
          <a:effectLst>
            <a:outerShdw blurRad="101600" dist="38100" dir="27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75488" y="3127248"/>
            <a:ext cx="411480" cy="411480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5488" y="3127248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960120" y="3154680"/>
            <a:ext cx="3337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Extend A/B Test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02920" y="3584448"/>
            <a:ext cx="37947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8C0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 new website layout test to 6,000+ visitors per group. Current 15% conversion lift needs additional data to confirm. Expected monthly upside: +$8,400.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502920" y="4407408"/>
            <a:ext cx="3749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5A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Impact: MED  |  Effort: LOW  |  Immediate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754880" y="3017520"/>
            <a:ext cx="4069080" cy="1627632"/>
          </a:xfrm>
          <a:prstGeom prst="rect">
            <a:avLst/>
          </a:prstGeom>
          <a:solidFill>
            <a:srgbClr val="223A7A"/>
          </a:solidFill>
          <a:ln w="12700">
            <a:solidFill>
              <a:srgbClr val="2A4A9A"/>
            </a:solidFill>
            <a:prstDash val="solid"/>
          </a:ln>
          <a:effectLst>
            <a:outerShdw blurRad="101600" dist="38100" dir="27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864608" y="3127248"/>
            <a:ext cx="411480" cy="411480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64608" y="3127248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5349240" y="3154680"/>
            <a:ext cx="3337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VIP Loyalty Program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4892040" y="3584448"/>
            <a:ext cx="37947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8C0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 exclusive tier for 412 Champions. Increase purchase frequency by 1 order/year = $312K revenue preserved and grown from top segment.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4892040" y="4407408"/>
            <a:ext cx="3749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5A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Impact: HIGH  |  Effort: MED  |  Q4 2024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4265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914400"/>
            <a:ext cx="4572000" cy="457200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943600" y="2286000"/>
            <a:ext cx="4114800" cy="4114800"/>
          </a:xfrm>
          <a:prstGeom prst="ellipse">
            <a:avLst/>
          </a:prstGeom>
          <a:solidFill>
            <a:srgbClr val="1A265A"/>
          </a:solidFill>
          <a:ln w="12700">
            <a:solidFill>
              <a:srgbClr val="1A265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371600" y="731520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kern="0" spc="300" dirty="0">
                <a:solidFill>
                  <a:srgbClr val="F5A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Data Story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914400" y="1234440"/>
            <a:ext cx="73152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Numbers to</a:t>
            </a:r>
            <a:endParaRPr lang="en-US" sz="4200" dirty="0"/>
          </a:p>
          <a:p>
            <a:pPr marL="0" indent="0" algn="ctr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Business Impact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731520" y="2834640"/>
            <a:ext cx="1737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5A6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22.2%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31520" y="3364992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8AAA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Revenue Growth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2743200" y="2834640"/>
            <a:ext cx="1737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5A6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93%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2743200" y="3364992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8AAA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Revenue from Top 2 Segments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4754880" y="2834640"/>
            <a:ext cx="1737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5A6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$280K+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4754880" y="3364992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8AAA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Recovery Opportunity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6766560" y="2834640"/>
            <a:ext cx="1737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5A6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p&lt;0.001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6766560" y="3364992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8AAA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Statistically Validated Growth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2286000" y="3886200"/>
            <a:ext cx="4572000" cy="36576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14400" y="41148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680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ApexPlanet  •  Data Analytics Report  •  2024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914400" y="44805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8D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Questions &amp; Discussion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1049</Words>
  <Application>Microsoft Office PowerPoint</Application>
  <PresentationFormat>On-screen Show (16:9)</PresentationFormat>
  <Paragraphs>150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ApexPlanet Analytics — Data Story 2024</dc:title>
  <dc:subject>PptxGenJS Presentation</dc:subject>
  <dc:creator>PptxGenJS</dc:creator>
  <cp:lastModifiedBy>Dell</cp:lastModifiedBy>
  <cp:revision>2</cp:revision>
  <dcterms:created xsi:type="dcterms:W3CDTF">2026-06-14T17:16:41Z</dcterms:created>
  <dcterms:modified xsi:type="dcterms:W3CDTF">2026-06-14T17:19:29Z</dcterms:modified>
</cp:coreProperties>
</file>